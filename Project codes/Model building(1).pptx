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7d2146578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g7d2146578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7d21465781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g7d21465781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7d21465781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g7d21465781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7d21465781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7d21465781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7d21465781_1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7d21465781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7d21465781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g7d21465781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7d21465781_1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g7d21465781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7d21465781_1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7d21465781_1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 descr="\\DROBO-FS\QuickDrops\JB\PPTX NG\Droplets\LightingOverlay.png"/>
          <p:cNvPicPr preferRelativeResize="0"/>
          <p:nvPr/>
        </p:nvPicPr>
        <p:blipFill rotWithShape="1">
          <a:blip r:embed="rId2">
            <a:alphaModFix amt="30000"/>
          </a:blip>
          <a:srcRect/>
          <a:stretch/>
        </p:blipFill>
        <p:spPr>
          <a:xfrm>
            <a:off x="0" y="-1"/>
            <a:ext cx="12192005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54;p2"/>
          <p:cNvGrpSpPr/>
          <p:nvPr/>
        </p:nvGrpSpPr>
        <p:grpSpPr>
          <a:xfrm>
            <a:off x="0" y="0"/>
            <a:ext cx="2305051" cy="6858000"/>
            <a:chOff x="0" y="0"/>
            <a:chExt cx="2305051" cy="6858000"/>
          </a:xfrm>
        </p:grpSpPr>
        <p:sp>
          <p:nvSpPr>
            <p:cNvPr id="55" name="Google Shape;55;p2"/>
            <p:cNvSpPr/>
            <p:nvPr/>
          </p:nvSpPr>
          <p:spPr>
            <a:xfrm>
              <a:off x="1209675" y="4763"/>
              <a:ext cx="23700" cy="21813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14338" y="9525"/>
              <a:ext cx="28500" cy="44814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l" t="t" r="r" b="b"/>
              <a:pathLst>
                <a:path w="96" h="572" extrusionOk="0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l" t="t" r="r" b="b"/>
              <a:pathLst>
                <a:path w="237" h="1135" extrusionOk="0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l" t="t" r="r" b="b"/>
              <a:pathLst>
                <a:path w="234" h="898" extrusionOk="0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l" t="t" r="r" b="b"/>
              <a:pathLst>
                <a:path w="96" h="575" extrusionOk="0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l" t="t" r="r" b="b"/>
              <a:pathLst>
                <a:path w="264" h="329" extrusionOk="0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l" t="t" r="r" b="b"/>
              <a:pathLst>
                <a:path w="34" h="31" extrusionOk="0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l" t="t" r="r" b="b"/>
              <a:pathLst>
                <a:path w="96" h="572" extrusionOk="0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l" t="t" r="r" b="b"/>
              <a:pathLst>
                <a:path w="213" h="766" extrusionOk="0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l" t="t" r="r" b="b"/>
              <a:pathLst>
                <a:path w="84" h="168" extrusionOk="0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l" t="t" r="r" b="b"/>
              <a:pathLst>
                <a:path w="84" h="170" extrusionOk="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l" t="t" r="r" b="b"/>
              <a:pathLst>
                <a:path w="195" h="982" extrusionOk="0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l" t="t" r="r" b="b"/>
              <a:pathLst>
                <a:path w="192" h="1120" extrusionOk="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642938" y="6610350"/>
              <a:ext cx="23700" cy="2430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l" t="t" r="r" b="b"/>
              <a:pathLst>
                <a:path w="120" h="291" extrusionOk="0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l" t="t" r="r" b="b"/>
              <a:pathLst>
                <a:path w="135" h="476" extrusionOk="0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l" t="t" r="r" b="b"/>
              <a:pathLst>
                <a:path w="35" h="34" extrusionOk="0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l" t="t" r="r" b="b"/>
              <a:pathLst>
                <a:path w="402" h="2536" extrusionOk="0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l" t="t" r="r" b="b"/>
              <a:pathLst>
                <a:path w="90" h="300" extrusionOk="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l" t="t" r="r" b="b"/>
              <a:pathLst>
                <a:path w="90" h="299" extrusionOk="0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l" t="t" r="r" b="b"/>
              <a:pathLst>
                <a:path w="72" h="285" extrusionOk="0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228725" y="4662488"/>
              <a:ext cx="23700" cy="21813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l" t="t" r="r" b="b"/>
              <a:pathLst>
                <a:path w="234" h="1135" extrusionOk="0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l" t="t" r="r" b="b"/>
              <a:pathLst>
                <a:path w="219" h="1802" extrusionOk="0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l" t="t" r="r" b="b"/>
              <a:pathLst>
                <a:path w="234" h="898" extrusionOk="0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l" t="t" r="r" b="b"/>
              <a:pathLst>
                <a:path w="96" h="575" extrusionOk="0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l" t="t" r="r" b="b"/>
              <a:pathLst>
                <a:path w="264" h="332" extrusionOk="0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l" t="t" r="r" b="b"/>
              <a:pathLst>
                <a:path w="33" h="31" extrusionOk="0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l" t="t" r="r" b="b"/>
              <a:pathLst>
                <a:path w="147" h="3215" extrusionOk="0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l" t="t" r="r" b="b"/>
              <a:pathLst>
                <a:path w="39" h="39" extrusionOk="0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2"/>
          <p:cNvSpPr txBox="1">
            <a:spLocks noGrp="1"/>
          </p:cNvSpPr>
          <p:nvPr>
            <p:ph type="ctrTitle"/>
          </p:nvPr>
        </p:nvSpPr>
        <p:spPr>
          <a:xfrm>
            <a:off x="1876424" y="1122363"/>
            <a:ext cx="87915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"/>
          <p:cNvSpPr txBox="1">
            <a:spLocks noGrp="1"/>
          </p:cNvSpPr>
          <p:nvPr>
            <p:ph type="subTitle" idx="1"/>
          </p:nvPr>
        </p:nvSpPr>
        <p:spPr>
          <a:xfrm>
            <a:off x="1876424" y="3602038"/>
            <a:ext cx="87915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000" cap="none">
                <a:solidFill>
                  <a:schemeClr val="lt2"/>
                </a:solidFill>
              </a:defRPr>
            </a:lvl1pPr>
            <a:lvl2pPr lvl="1" algn="ctr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/>
            </a:lvl2pPr>
            <a:lvl3pPr lvl="2" algn="ctr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3pPr>
            <a:lvl4pPr lvl="3" algn="ctr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4pPr>
            <a:lvl5pPr lvl="4" algn="ctr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5pPr>
            <a:lvl6pPr lvl="5" algn="ctr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6pPr>
            <a:lvl7pPr lvl="6" algn="ctr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7pPr>
            <a:lvl8pPr lvl="7" algn="ctr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8pPr>
            <a:lvl9pPr lvl="8" algn="ctr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9pPr>
          </a:lstStyle>
          <a:p>
            <a:endParaRPr/>
          </a:p>
        </p:txBody>
      </p:sp>
      <p:sp>
        <p:nvSpPr>
          <p:cNvPr id="111" name="Google Shape;111;p2"/>
          <p:cNvSpPr txBox="1">
            <a:spLocks noGrp="1"/>
          </p:cNvSpPr>
          <p:nvPr>
            <p:ph type="dt" idx="10"/>
          </p:nvPr>
        </p:nvSpPr>
        <p:spPr>
          <a:xfrm>
            <a:off x="7077511" y="541020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"/>
          <p:cNvSpPr txBox="1">
            <a:spLocks noGrp="1"/>
          </p:cNvSpPr>
          <p:nvPr>
            <p:ph type="ftr" idx="11"/>
          </p:nvPr>
        </p:nvSpPr>
        <p:spPr>
          <a:xfrm>
            <a:off x="1876424" y="5410201"/>
            <a:ext cx="512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"/>
          <p:cNvSpPr txBox="1">
            <a:spLocks noGrp="1"/>
          </p:cNvSpPr>
          <p:nvPr>
            <p:ph type="sldNum" idx="12"/>
          </p:nvPr>
        </p:nvSpPr>
        <p:spPr>
          <a:xfrm>
            <a:off x="9896911" y="5410199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6000" cy="1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3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6000" cy="35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14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3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3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>
            <a:spLocks noGrp="1"/>
          </p:cNvSpPr>
          <p:nvPr>
            <p:ph type="title"/>
          </p:nvPr>
        </p:nvSpPr>
        <p:spPr>
          <a:xfrm>
            <a:off x="1141411" y="1419226"/>
            <a:ext cx="99060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"/>
          <p:cNvSpPr txBox="1"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cap="none">
                <a:solidFill>
                  <a:schemeClr val="lt1"/>
                </a:solidFill>
              </a:defRPr>
            </a:lvl1pPr>
            <a:lvl2pPr marL="9144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4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4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4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6000" cy="1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5"/>
          <p:cNvSpPr txBox="1">
            <a:spLocks noGrp="1"/>
          </p:cNvSpPr>
          <p:nvPr>
            <p:ph type="body" idx="1"/>
          </p:nvPr>
        </p:nvSpPr>
        <p:spPr>
          <a:xfrm>
            <a:off x="1141410" y="2249486"/>
            <a:ext cx="4878300" cy="35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14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5"/>
          <p:cNvSpPr txBox="1">
            <a:spLocks noGrp="1"/>
          </p:cNvSpPr>
          <p:nvPr>
            <p:ph type="body" idx="2"/>
          </p:nvPr>
        </p:nvSpPr>
        <p:spPr>
          <a:xfrm>
            <a:off x="6172200" y="2249486"/>
            <a:ext cx="4875300" cy="35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14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5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5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5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>
            <a:spLocks noGrp="1"/>
          </p:cNvSpPr>
          <p:nvPr>
            <p:ph type="title"/>
          </p:nvPr>
        </p:nvSpPr>
        <p:spPr>
          <a:xfrm>
            <a:off x="1141411" y="619126"/>
            <a:ext cx="9906000" cy="14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6"/>
          <p:cNvSpPr txBox="1">
            <a:spLocks noGrp="1"/>
          </p:cNvSpPr>
          <p:nvPr>
            <p:ph type="body" idx="1"/>
          </p:nvPr>
        </p:nvSpPr>
        <p:spPr>
          <a:xfrm>
            <a:off x="1370019" y="2249486"/>
            <a:ext cx="46497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</a:defRPr>
            </a:lvl1pPr>
            <a:lvl2pPr marL="9144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/>
          </a:p>
        </p:txBody>
      </p:sp>
      <p:sp>
        <p:nvSpPr>
          <p:cNvPr id="136" name="Google Shape;136;p6"/>
          <p:cNvSpPr txBox="1">
            <a:spLocks noGrp="1"/>
          </p:cNvSpPr>
          <p:nvPr>
            <p:ph type="body" idx="2"/>
          </p:nvPr>
        </p:nvSpPr>
        <p:spPr>
          <a:xfrm>
            <a:off x="1141410" y="3073397"/>
            <a:ext cx="48783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14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6"/>
          <p:cNvSpPr txBox="1">
            <a:spLocks noGrp="1"/>
          </p:cNvSpPr>
          <p:nvPr>
            <p:ph type="body" idx="3"/>
          </p:nvPr>
        </p:nvSpPr>
        <p:spPr>
          <a:xfrm>
            <a:off x="6400808" y="2249485"/>
            <a:ext cx="46467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</a:defRPr>
            </a:lvl1pPr>
            <a:lvl2pPr marL="9144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/>
          </a:p>
        </p:txBody>
      </p:sp>
      <p:sp>
        <p:nvSpPr>
          <p:cNvPr id="138" name="Google Shape;138;p6"/>
          <p:cNvSpPr txBox="1">
            <a:spLocks noGrp="1"/>
          </p:cNvSpPr>
          <p:nvPr>
            <p:ph type="body" idx="4"/>
          </p:nvPr>
        </p:nvSpPr>
        <p:spPr>
          <a:xfrm>
            <a:off x="6172200" y="3073397"/>
            <a:ext cx="48753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14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6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6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6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6000" cy="1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7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7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7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8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8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>
            <a:spLocks noGrp="1"/>
          </p:cNvSpPr>
          <p:nvPr>
            <p:ph type="title"/>
          </p:nvPr>
        </p:nvSpPr>
        <p:spPr>
          <a:xfrm>
            <a:off x="1146705" y="609601"/>
            <a:ext cx="3855900" cy="16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9"/>
          <p:cNvSpPr txBox="1">
            <a:spLocks noGrp="1"/>
          </p:cNvSpPr>
          <p:nvPr>
            <p:ph type="body" idx="1"/>
          </p:nvPr>
        </p:nvSpPr>
        <p:spPr>
          <a:xfrm>
            <a:off x="5156200" y="592666"/>
            <a:ext cx="5891100" cy="5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714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9"/>
          <p:cNvSpPr txBox="1">
            <a:spLocks noGrp="1"/>
          </p:cNvSpPr>
          <p:nvPr>
            <p:ph type="body" idx="2"/>
          </p:nvPr>
        </p:nvSpPr>
        <p:spPr>
          <a:xfrm>
            <a:off x="1146705" y="2249486"/>
            <a:ext cx="3855900" cy="35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marL="9144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/>
          </a:p>
        </p:txBody>
      </p:sp>
      <p:sp>
        <p:nvSpPr>
          <p:cNvPr id="155" name="Google Shape;155;p9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9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9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>
            <a:spLocks noGrp="1"/>
          </p:cNvSpPr>
          <p:nvPr>
            <p:ph type="title"/>
          </p:nvPr>
        </p:nvSpPr>
        <p:spPr>
          <a:xfrm>
            <a:off x="1141413" y="609600"/>
            <a:ext cx="5934600" cy="16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0"/>
          <p:cNvSpPr>
            <a:spLocks noGrp="1"/>
          </p:cNvSpPr>
          <p:nvPr>
            <p:ph type="pic" idx="2"/>
          </p:nvPr>
        </p:nvSpPr>
        <p:spPr>
          <a:xfrm>
            <a:off x="7380721" y="609601"/>
            <a:ext cx="3666600" cy="5181600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 cmpd="sng">
            <a:solidFill>
              <a:srgbClr val="B3FFFF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61" name="Google Shape;161;p10"/>
          <p:cNvSpPr txBox="1">
            <a:spLocks noGrp="1"/>
          </p:cNvSpPr>
          <p:nvPr>
            <p:ph type="body" idx="1"/>
          </p:nvPr>
        </p:nvSpPr>
        <p:spPr>
          <a:xfrm>
            <a:off x="1141410" y="2249486"/>
            <a:ext cx="5934600" cy="35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marL="9144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/>
          </a:p>
        </p:txBody>
      </p:sp>
      <p:sp>
        <p:nvSpPr>
          <p:cNvPr id="162" name="Google Shape;162;p10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0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0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>
            <a:spLocks noGrp="1"/>
          </p:cNvSpPr>
          <p:nvPr>
            <p:ph type="title"/>
          </p:nvPr>
        </p:nvSpPr>
        <p:spPr>
          <a:xfrm>
            <a:off x="1141410" y="4304664"/>
            <a:ext cx="9912300" cy="8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1"/>
          <p:cNvSpPr>
            <a:spLocks noGrp="1"/>
          </p:cNvSpPr>
          <p:nvPr>
            <p:ph type="pic" idx="2"/>
          </p:nvPr>
        </p:nvSpPr>
        <p:spPr>
          <a:xfrm>
            <a:off x="1141411" y="606426"/>
            <a:ext cx="9912300" cy="3299700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 cmpd="sng">
            <a:solidFill>
              <a:srgbClr val="B3FFFF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68" name="Google Shape;168;p11"/>
          <p:cNvSpPr txBox="1">
            <a:spLocks noGrp="1"/>
          </p:cNvSpPr>
          <p:nvPr>
            <p:ph type="body" idx="1"/>
          </p:nvPr>
        </p:nvSpPr>
        <p:spPr>
          <a:xfrm>
            <a:off x="1141364" y="5124020"/>
            <a:ext cx="9910800" cy="6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marL="9144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/>
          </a:p>
        </p:txBody>
      </p:sp>
      <p:sp>
        <p:nvSpPr>
          <p:cNvPr id="169" name="Google Shape;169;p11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1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1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>
            <a:spLocks noGrp="1"/>
          </p:cNvSpPr>
          <p:nvPr>
            <p:ph type="title"/>
          </p:nvPr>
        </p:nvSpPr>
        <p:spPr>
          <a:xfrm>
            <a:off x="1141456" y="609600"/>
            <a:ext cx="9906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2"/>
          <p:cNvSpPr txBox="1">
            <a:spLocks noGrp="1"/>
          </p:cNvSpPr>
          <p:nvPr>
            <p:ph type="body" idx="1"/>
          </p:nvPr>
        </p:nvSpPr>
        <p:spPr>
          <a:xfrm>
            <a:off x="1141410" y="4419599"/>
            <a:ext cx="99045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marL="9144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/>
          </a:p>
        </p:txBody>
      </p:sp>
      <p:sp>
        <p:nvSpPr>
          <p:cNvPr id="175" name="Google Shape;175;p12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2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2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 txBox="1">
            <a:spLocks noGrp="1"/>
          </p:cNvSpPr>
          <p:nvPr>
            <p:ph type="title"/>
          </p:nvPr>
        </p:nvSpPr>
        <p:spPr>
          <a:xfrm>
            <a:off x="1446212" y="609599"/>
            <a:ext cx="9302700" cy="27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3"/>
          <p:cNvSpPr txBox="1">
            <a:spLocks noGrp="1"/>
          </p:cNvSpPr>
          <p:nvPr>
            <p:ph type="body" idx="1"/>
          </p:nvPr>
        </p:nvSpPr>
        <p:spPr>
          <a:xfrm>
            <a:off x="1720644" y="3365557"/>
            <a:ext cx="87522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marL="9144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/>
          </a:p>
        </p:txBody>
      </p:sp>
      <p:sp>
        <p:nvSpPr>
          <p:cNvPr id="181" name="Google Shape;181;p13"/>
          <p:cNvSpPr txBox="1">
            <a:spLocks noGrp="1"/>
          </p:cNvSpPr>
          <p:nvPr>
            <p:ph type="body" idx="2"/>
          </p:nvPr>
        </p:nvSpPr>
        <p:spPr>
          <a:xfrm>
            <a:off x="1141411" y="4309919"/>
            <a:ext cx="9906000" cy="14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marL="9144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13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13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5" name="Google Shape;185;p13"/>
          <p:cNvSpPr txBox="1"/>
          <p:nvPr/>
        </p:nvSpPr>
        <p:spPr>
          <a:xfrm>
            <a:off x="903512" y="732394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lang="en-IN" sz="8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86" name="Google Shape;186;p13"/>
          <p:cNvSpPr txBox="1"/>
          <p:nvPr/>
        </p:nvSpPr>
        <p:spPr>
          <a:xfrm>
            <a:off x="10537370" y="2764972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lang="en-IN" sz="8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 txBox="1">
            <a:spLocks noGrp="1"/>
          </p:cNvSpPr>
          <p:nvPr>
            <p:ph type="title"/>
          </p:nvPr>
        </p:nvSpPr>
        <p:spPr>
          <a:xfrm>
            <a:off x="1141410" y="2134041"/>
            <a:ext cx="9906000" cy="25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body" idx="1"/>
          </p:nvPr>
        </p:nvSpPr>
        <p:spPr>
          <a:xfrm>
            <a:off x="1141364" y="4657655"/>
            <a:ext cx="9904500" cy="11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marL="9144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4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4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 txBox="1">
            <a:spLocks noGrp="1"/>
          </p:cNvSpPr>
          <p:nvPr>
            <p:ph type="title"/>
          </p:nvPr>
        </p:nvSpPr>
        <p:spPr>
          <a:xfrm>
            <a:off x="1141413" y="609600"/>
            <a:ext cx="99060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5"/>
          <p:cNvSpPr txBox="1">
            <a:spLocks noGrp="1"/>
          </p:cNvSpPr>
          <p:nvPr>
            <p:ph type="body" idx="1"/>
          </p:nvPr>
        </p:nvSpPr>
        <p:spPr>
          <a:xfrm>
            <a:off x="1141410" y="2674463"/>
            <a:ext cx="3196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</a:defRPr>
            </a:lvl1pPr>
            <a:lvl2pPr marL="9144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/>
          </a:p>
        </p:txBody>
      </p:sp>
      <p:sp>
        <p:nvSpPr>
          <p:cNvPr id="196" name="Google Shape;196;p15"/>
          <p:cNvSpPr txBox="1">
            <a:spLocks noGrp="1"/>
          </p:cNvSpPr>
          <p:nvPr>
            <p:ph type="body" idx="2"/>
          </p:nvPr>
        </p:nvSpPr>
        <p:spPr>
          <a:xfrm>
            <a:off x="1127918" y="3360263"/>
            <a:ext cx="3208800" cy="24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marL="9144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/>
          </a:p>
        </p:txBody>
      </p:sp>
      <p:sp>
        <p:nvSpPr>
          <p:cNvPr id="197" name="Google Shape;197;p15"/>
          <p:cNvSpPr txBox="1">
            <a:spLocks noGrp="1"/>
          </p:cNvSpPr>
          <p:nvPr>
            <p:ph type="body" idx="3"/>
          </p:nvPr>
        </p:nvSpPr>
        <p:spPr>
          <a:xfrm>
            <a:off x="4514766" y="2677635"/>
            <a:ext cx="3184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</a:defRPr>
            </a:lvl1pPr>
            <a:lvl2pPr marL="9144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/>
          </a:p>
        </p:txBody>
      </p:sp>
      <p:sp>
        <p:nvSpPr>
          <p:cNvPr id="198" name="Google Shape;198;p15"/>
          <p:cNvSpPr txBox="1">
            <a:spLocks noGrp="1"/>
          </p:cNvSpPr>
          <p:nvPr>
            <p:ph type="body" idx="4"/>
          </p:nvPr>
        </p:nvSpPr>
        <p:spPr>
          <a:xfrm>
            <a:off x="4504213" y="3363435"/>
            <a:ext cx="3195900" cy="24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marL="9144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/>
          </a:p>
        </p:txBody>
      </p:sp>
      <p:sp>
        <p:nvSpPr>
          <p:cNvPr id="199" name="Google Shape;199;p15"/>
          <p:cNvSpPr txBox="1">
            <a:spLocks noGrp="1"/>
          </p:cNvSpPr>
          <p:nvPr>
            <p:ph type="body" idx="5"/>
          </p:nvPr>
        </p:nvSpPr>
        <p:spPr>
          <a:xfrm>
            <a:off x="7852442" y="2674463"/>
            <a:ext cx="3195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</a:defRPr>
            </a:lvl1pPr>
            <a:lvl2pPr marL="9144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/>
          </a:p>
        </p:txBody>
      </p:sp>
      <p:sp>
        <p:nvSpPr>
          <p:cNvPr id="200" name="Google Shape;200;p15"/>
          <p:cNvSpPr txBox="1">
            <a:spLocks noGrp="1"/>
          </p:cNvSpPr>
          <p:nvPr>
            <p:ph type="body" idx="6"/>
          </p:nvPr>
        </p:nvSpPr>
        <p:spPr>
          <a:xfrm>
            <a:off x="7852442" y="3360263"/>
            <a:ext cx="3195000" cy="24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marL="9144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/>
          </a:p>
        </p:txBody>
      </p:sp>
      <p:sp>
        <p:nvSpPr>
          <p:cNvPr id="201" name="Google Shape;201;p15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5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5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 txBox="1">
            <a:spLocks noGrp="1"/>
          </p:cNvSpPr>
          <p:nvPr>
            <p:ph type="title"/>
          </p:nvPr>
        </p:nvSpPr>
        <p:spPr>
          <a:xfrm>
            <a:off x="1141411" y="609600"/>
            <a:ext cx="99060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6"/>
          <p:cNvSpPr txBox="1">
            <a:spLocks noGrp="1"/>
          </p:cNvSpPr>
          <p:nvPr>
            <p:ph type="body" idx="1"/>
          </p:nvPr>
        </p:nvSpPr>
        <p:spPr>
          <a:xfrm>
            <a:off x="1141413" y="4404596"/>
            <a:ext cx="31953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 cap="none">
                <a:solidFill>
                  <a:schemeClr val="lt1"/>
                </a:solidFill>
              </a:defRPr>
            </a:lvl1pPr>
            <a:lvl2pPr marL="9144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/>
          </a:p>
        </p:txBody>
      </p:sp>
      <p:sp>
        <p:nvSpPr>
          <p:cNvPr id="207" name="Google Shape;207;p16"/>
          <p:cNvSpPr>
            <a:spLocks noGrp="1"/>
          </p:cNvSpPr>
          <p:nvPr>
            <p:ph type="pic" idx="2"/>
          </p:nvPr>
        </p:nvSpPr>
        <p:spPr>
          <a:xfrm>
            <a:off x="1141413" y="2666998"/>
            <a:ext cx="319530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B3FFFF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208" name="Google Shape;208;p16"/>
          <p:cNvSpPr txBox="1">
            <a:spLocks noGrp="1"/>
          </p:cNvSpPr>
          <p:nvPr>
            <p:ph type="body" idx="3"/>
          </p:nvPr>
        </p:nvSpPr>
        <p:spPr>
          <a:xfrm>
            <a:off x="1141413" y="4980858"/>
            <a:ext cx="3195300" cy="8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marL="9144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body" idx="4"/>
          </p:nvPr>
        </p:nvSpPr>
        <p:spPr>
          <a:xfrm>
            <a:off x="4489053" y="4404596"/>
            <a:ext cx="32004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 cap="none">
                <a:solidFill>
                  <a:schemeClr val="lt1"/>
                </a:solidFill>
              </a:defRPr>
            </a:lvl1pPr>
            <a:lvl2pPr marL="9144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/>
          </a:p>
        </p:txBody>
      </p:sp>
      <p:sp>
        <p:nvSpPr>
          <p:cNvPr id="210" name="Google Shape;210;p16"/>
          <p:cNvSpPr>
            <a:spLocks noGrp="1"/>
          </p:cNvSpPr>
          <p:nvPr>
            <p:ph type="pic" idx="5"/>
          </p:nvPr>
        </p:nvSpPr>
        <p:spPr>
          <a:xfrm>
            <a:off x="4489053" y="2666998"/>
            <a:ext cx="319890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B3FFFF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body" idx="6"/>
          </p:nvPr>
        </p:nvSpPr>
        <p:spPr>
          <a:xfrm>
            <a:off x="4487593" y="4980857"/>
            <a:ext cx="3200400" cy="8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marL="9144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body" idx="7"/>
          </p:nvPr>
        </p:nvSpPr>
        <p:spPr>
          <a:xfrm>
            <a:off x="7852567" y="4404595"/>
            <a:ext cx="31908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 cap="none">
                <a:solidFill>
                  <a:schemeClr val="lt1"/>
                </a:solidFill>
              </a:defRPr>
            </a:lvl1pPr>
            <a:lvl2pPr marL="9144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/>
          </a:p>
        </p:txBody>
      </p:sp>
      <p:sp>
        <p:nvSpPr>
          <p:cNvPr id="213" name="Google Shape;213;p16"/>
          <p:cNvSpPr>
            <a:spLocks noGrp="1"/>
          </p:cNvSpPr>
          <p:nvPr>
            <p:ph type="pic" idx="8"/>
          </p:nvPr>
        </p:nvSpPr>
        <p:spPr>
          <a:xfrm>
            <a:off x="7852442" y="2666998"/>
            <a:ext cx="319500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B3FFFF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body" idx="9"/>
          </p:nvPr>
        </p:nvSpPr>
        <p:spPr>
          <a:xfrm>
            <a:off x="7852442" y="4980854"/>
            <a:ext cx="3195000" cy="8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marL="9144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6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6000" cy="1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body" idx="1"/>
          </p:nvPr>
        </p:nvSpPr>
        <p:spPr>
          <a:xfrm rot="5400000">
            <a:off x="4323511" y="-932613"/>
            <a:ext cx="3541800" cy="99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14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p17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17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7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"/>
          <p:cNvSpPr txBox="1">
            <a:spLocks noGrp="1"/>
          </p:cNvSpPr>
          <p:nvPr>
            <p:ph type="title"/>
          </p:nvPr>
        </p:nvSpPr>
        <p:spPr>
          <a:xfrm rot="5400000">
            <a:off x="7454161" y="2197949"/>
            <a:ext cx="5181600" cy="20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18"/>
          <p:cNvSpPr txBox="1">
            <a:spLocks noGrp="1"/>
          </p:cNvSpPr>
          <p:nvPr>
            <p:ph type="body" idx="1"/>
          </p:nvPr>
        </p:nvSpPr>
        <p:spPr>
          <a:xfrm rot="5400000">
            <a:off x="2424850" y="-673951"/>
            <a:ext cx="5181600" cy="77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147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marL="914400" lvl="1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18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18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18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\\DROBO-FS\QuickDrops\JB\PPTX NG\Droplets\LightingOverlay.png"/>
          <p:cNvPicPr preferRelativeResize="0"/>
          <p:nvPr/>
        </p:nvPicPr>
        <p:blipFill rotWithShape="1">
          <a:blip r:embed="rId20">
            <a:alphaModFix amt="30000"/>
          </a:blip>
          <a:srcRect/>
          <a:stretch/>
        </p:blipFill>
        <p:spPr>
          <a:xfrm>
            <a:off x="0" y="-1"/>
            <a:ext cx="12192005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7;p1"/>
          <p:cNvGrpSpPr/>
          <p:nvPr/>
        </p:nvGrpSpPr>
        <p:grpSpPr>
          <a:xfrm>
            <a:off x="-14288" y="0"/>
            <a:ext cx="12053888" cy="6858000"/>
            <a:chOff x="-14288" y="0"/>
            <a:chExt cx="12053888" cy="6858000"/>
          </a:xfrm>
        </p:grpSpPr>
        <p:grpSp>
          <p:nvGrpSpPr>
            <p:cNvPr id="8" name="Google Shape;8;p1"/>
            <p:cNvGrpSpPr/>
            <p:nvPr/>
          </p:nvGrpSpPr>
          <p:grpSpPr>
            <a:xfrm>
              <a:off x="-14288" y="0"/>
              <a:ext cx="1220788" cy="6858000"/>
              <a:chOff x="-14288" y="0"/>
              <a:chExt cx="1220788" cy="6858000"/>
            </a:xfrm>
          </p:grpSpPr>
          <p:sp>
            <p:nvSpPr>
              <p:cNvPr id="9" name="Google Shape;9;p1"/>
              <p:cNvSpPr/>
              <p:nvPr/>
            </p:nvSpPr>
            <p:spPr>
              <a:xfrm>
                <a:off x="114300" y="4763"/>
                <a:ext cx="23700" cy="2181300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10;p1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1;p1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2;p1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l" t="t" r="r" b="b"/>
                <a:pathLst>
                  <a:path w="233" h="1141" extrusionOk="0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Google Shape;13;p1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1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l" t="t" r="r" b="b"/>
                <a:pathLst>
                  <a:path w="233" h="901" extrusionOk="0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Google Shape;15;p1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75" extrusionOk="0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Google Shape;16;p1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1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1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l" t="t" r="r" b="b"/>
                <a:pathLst>
                  <a:path w="266" h="332" extrusionOk="0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Google Shape;19;p1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31" extrusionOk="0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0" name="Google Shape;20;p1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21" name="Google Shape;21;p1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78" h="80" extrusionOk="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Google Shape;22;p1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l" t="t" r="r" b="b"/>
                <a:pathLst>
                  <a:path w="93" h="303" extrusionOk="0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Google Shape;23;p1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90" h="300" extrusionOk="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Google Shape;24;p1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4" h="23" extrusionOk="0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1"/>
              <p:cNvSpPr/>
              <p:nvPr/>
            </p:nvSpPr>
            <p:spPr>
              <a:xfrm>
                <a:off x="133350" y="4662488"/>
                <a:ext cx="23700" cy="2181300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1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l" t="t" r="r" b="b"/>
                <a:pathLst>
                  <a:path w="233" h="1135" extrusionOk="0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Google Shape;27;p1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1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l" t="t" r="r" b="b"/>
                <a:pathLst>
                  <a:path w="54" h="766" extrusionOk="0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Google Shape;29;p1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l" t="t" r="r" b="b"/>
                <a:pathLst>
                  <a:path w="236" h="898" extrusionOk="0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Google Shape;31;p1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75" extrusionOk="0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Google Shape;32;p1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26" extrusionOk="0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Google Shape;35;p1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l" t="t" r="r" b="b"/>
                <a:pathLst>
                  <a:path w="33" h="31" extrusionOk="0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1"/>
            <p:cNvGrpSpPr/>
            <p:nvPr/>
          </p:nvGrpSpPr>
          <p:grpSpPr>
            <a:xfrm>
              <a:off x="11364912" y="0"/>
              <a:ext cx="674688" cy="6848475"/>
              <a:chOff x="11364912" y="0"/>
              <a:chExt cx="674688" cy="6848475"/>
            </a:xfrm>
          </p:grpSpPr>
          <p:sp>
            <p:nvSpPr>
              <p:cNvPr id="37" name="Google Shape;37;p1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23" extrusionOk="0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32" extrusionOk="0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1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1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l" t="t" r="r" b="b"/>
                <a:pathLst>
                  <a:path w="188" h="727" extrusionOk="0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Google Shape;41;p1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33" h="33" extrusionOk="0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1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l" t="t" r="r" b="b"/>
                <a:pathLst>
                  <a:path w="192" h="973" extrusionOk="0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Google Shape;43;p1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l" t="t" r="r" b="b"/>
                <a:pathLst>
                  <a:path w="194" h="1135" extrusionOk="0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Google Shape;45;p1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11939587" y="6596063"/>
                <a:ext cx="23700" cy="252300"/>
              </a:xfrm>
              <a:prstGeom prst="rect">
                <a:avLst/>
              </a:pr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7" name="Google Shape;47;p1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6000" cy="1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8" name="Google Shape;48;p1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6000" cy="35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873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49" name="Google Shape;49;p1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50" name="Google Shape;50;p1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51" name="Google Shape;51;p1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 txBox="1">
            <a:spLocks noGrp="1"/>
          </p:cNvSpPr>
          <p:nvPr>
            <p:ph type="subTitle" idx="1"/>
          </p:nvPr>
        </p:nvSpPr>
        <p:spPr>
          <a:xfrm>
            <a:off x="1524000" y="704850"/>
            <a:ext cx="9144000" cy="455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None/>
            </a:pPr>
            <a:endParaRPr sz="5400" dirty="0">
              <a:solidFill>
                <a:srgbClr val="C00000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None/>
            </a:pPr>
            <a:r>
              <a:rPr lang="en-IN" sz="5400" dirty="0">
                <a:solidFill>
                  <a:srgbClr val="C00000"/>
                </a:solidFill>
              </a:rPr>
              <a:t>Electric Motor Temperature 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496"/>
              </a:buClr>
              <a:buSzPts val="3600"/>
              <a:buNone/>
            </a:pPr>
            <a:r>
              <a:rPr lang="en-US" sz="3600" dirty="0">
                <a:solidFill>
                  <a:srgbClr val="2F5496"/>
                </a:solidFill>
              </a:rPr>
              <a:t>&lt;J B Nithin&gt;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496"/>
              </a:buClr>
              <a:buSzPts val="3600"/>
              <a:buNone/>
            </a:pPr>
            <a:r>
              <a:rPr lang="en-US" sz="3600" dirty="0">
                <a:solidFill>
                  <a:srgbClr val="2F5496"/>
                </a:solidFill>
              </a:rPr>
              <a:t>&lt;G Naveen Kumar&gt; </a:t>
            </a:r>
            <a:endParaRPr lang="en-US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496"/>
              </a:buClr>
              <a:buSzPts val="3600"/>
              <a:buNone/>
            </a:pPr>
            <a:r>
              <a:rPr lang="en-US" sz="3600" dirty="0">
                <a:solidFill>
                  <a:srgbClr val="2F5496"/>
                </a:solidFill>
              </a:rPr>
              <a:t>&lt;Hima Bindu Sadu&gt;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496"/>
              </a:buClr>
              <a:buSzPts val="3600"/>
              <a:buNone/>
            </a:pPr>
            <a:r>
              <a:rPr lang="en-US" sz="3600" dirty="0">
                <a:solidFill>
                  <a:srgbClr val="2F5496"/>
                </a:solidFill>
              </a:rPr>
              <a:t>&lt;Himaja Reddy&gt; </a:t>
            </a:r>
            <a:endParaRPr lang="en-US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496"/>
              </a:buClr>
              <a:buSzPts val="3600"/>
              <a:buNone/>
            </a:pPr>
            <a:r>
              <a:rPr lang="en-US" sz="3600">
                <a:solidFill>
                  <a:srgbClr val="2F5496"/>
                </a:solidFill>
              </a:rPr>
              <a:t>&lt;15/02/2026&gt;</a:t>
            </a:r>
            <a:endParaRPr lang="en-US" sz="3600" dirty="0">
              <a:solidFill>
                <a:srgbClr val="2F549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"/>
          <p:cNvSpPr txBox="1">
            <a:spLocks noGrp="1"/>
          </p:cNvSpPr>
          <p:nvPr>
            <p:ph type="subTitle" idx="1"/>
          </p:nvPr>
        </p:nvSpPr>
        <p:spPr>
          <a:xfrm>
            <a:off x="1524000" y="704850"/>
            <a:ext cx="9144000" cy="455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600"/>
              <a:buNone/>
            </a:pPr>
            <a:endParaRPr sz="3600">
              <a:solidFill>
                <a:srgbClr val="2F5496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600"/>
              <a:buNone/>
            </a:pPr>
            <a:r>
              <a:rPr lang="en-IN" sz="3600">
                <a:solidFill>
                  <a:srgbClr val="2F5496"/>
                </a:solidFill>
              </a:rPr>
              <a:t>Business Problem: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/>
              <a:t>Motor speed is the output/dependent variable influenced by all other independent variables and we can see the dataset through EDA (Exploratory Data Analysis) how it flows.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/>
              <a:t>                                                                                                                                     </a:t>
            </a:r>
            <a:endParaRPr sz="200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400">
                <a:solidFill>
                  <a:srgbClr val="1D3D8C"/>
                </a:solidFill>
              </a:rPr>
              <a:t>  Objective:</a:t>
            </a:r>
            <a:endParaRPr sz="2400">
              <a:solidFill>
                <a:srgbClr val="1D3D8C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/>
              <a:t>Predict Motor temperature based on other attributes available are like ambient, coolant, torque, current d_q </a:t>
            </a:r>
            <a:r>
              <a:rPr lang="en-IN" sz="2000"/>
              <a:t>components</a:t>
            </a:r>
            <a:r>
              <a:rPr lang="en-IN" sz="1800"/>
              <a:t>, voltage d_q components, stator yoke, stator tooth, stator winding, permanent magnet and profile_id.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sz="3600">
              <a:solidFill>
                <a:srgbClr val="2F549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"/>
          <p:cNvSpPr txBox="1">
            <a:spLocks noGrp="1"/>
          </p:cNvSpPr>
          <p:nvPr>
            <p:ph type="subTitle" idx="1"/>
          </p:nvPr>
        </p:nvSpPr>
        <p:spPr>
          <a:xfrm>
            <a:off x="1524000" y="292608"/>
            <a:ext cx="9046464" cy="496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b="1"/>
              <a:t>Project Architecture / Project Flow 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sz="3600">
              <a:solidFill>
                <a:srgbClr val="2F5496"/>
              </a:solidFill>
            </a:endParaRPr>
          </a:p>
        </p:txBody>
      </p:sp>
      <p:grpSp>
        <p:nvGrpSpPr>
          <p:cNvPr id="245" name="Google Shape;245;p21"/>
          <p:cNvGrpSpPr/>
          <p:nvPr/>
        </p:nvGrpSpPr>
        <p:grpSpPr>
          <a:xfrm>
            <a:off x="4520246" y="856297"/>
            <a:ext cx="3946538" cy="5146931"/>
            <a:chOff x="0" y="0"/>
            <a:chExt cx="3946880" cy="5147208"/>
          </a:xfrm>
        </p:grpSpPr>
        <p:sp>
          <p:nvSpPr>
            <p:cNvPr id="246" name="Google Shape;246;p21"/>
            <p:cNvSpPr/>
            <p:nvPr/>
          </p:nvSpPr>
          <p:spPr>
            <a:xfrm>
              <a:off x="583179" y="0"/>
              <a:ext cx="2638818" cy="3925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Business problem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21"/>
            <p:cNvSpPr/>
            <p:nvPr/>
          </p:nvSpPr>
          <p:spPr>
            <a:xfrm>
              <a:off x="15651" y="1023915"/>
              <a:ext cx="3136125" cy="727022"/>
            </a:xfrm>
            <a:custGeom>
              <a:avLst/>
              <a:gdLst/>
              <a:ahLst/>
              <a:cxnLst/>
              <a:rect l="l" t="t" r="r" b="b"/>
              <a:pathLst>
                <a:path w="3136125" h="727022" extrusionOk="0">
                  <a:moveTo>
                    <a:pt x="0" y="0"/>
                  </a:moveTo>
                  <a:lnTo>
                    <a:pt x="3136125" y="0"/>
                  </a:lnTo>
                  <a:lnTo>
                    <a:pt x="3136125" y="727022"/>
                  </a:lnTo>
                  <a:lnTo>
                    <a:pt x="0" y="727022"/>
                  </a:lnTo>
                  <a:lnTo>
                    <a:pt x="0" y="0"/>
                  </a:lnTo>
                </a:path>
              </a:pathLst>
            </a:custGeom>
            <a:solidFill>
              <a:srgbClr val="9AA96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21"/>
            <p:cNvSpPr/>
            <p:nvPr/>
          </p:nvSpPr>
          <p:spPr>
            <a:xfrm>
              <a:off x="15651" y="1023915"/>
              <a:ext cx="3136125" cy="727022"/>
            </a:xfrm>
            <a:custGeom>
              <a:avLst/>
              <a:gdLst/>
              <a:ahLst/>
              <a:cxnLst/>
              <a:rect l="l" t="t" r="r" b="b"/>
              <a:pathLst>
                <a:path w="3136125" h="727022" extrusionOk="0">
                  <a:moveTo>
                    <a:pt x="0" y="0"/>
                  </a:moveTo>
                  <a:lnTo>
                    <a:pt x="3136125" y="0"/>
                  </a:lnTo>
                  <a:lnTo>
                    <a:pt x="3136125" y="727022"/>
                  </a:lnTo>
                  <a:lnTo>
                    <a:pt x="0" y="72702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3975" cap="flat" cmpd="sng">
              <a:solidFill>
                <a:srgbClr val="A3B3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21"/>
            <p:cNvSpPr/>
            <p:nvPr/>
          </p:nvSpPr>
          <p:spPr>
            <a:xfrm>
              <a:off x="163371" y="1244704"/>
              <a:ext cx="3783509" cy="3925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Exploratory Data Analysis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21"/>
            <p:cNvSpPr/>
            <p:nvPr/>
          </p:nvSpPr>
          <p:spPr>
            <a:xfrm>
              <a:off x="15653" y="2386874"/>
              <a:ext cx="3136126" cy="496672"/>
            </a:xfrm>
            <a:custGeom>
              <a:avLst/>
              <a:gdLst/>
              <a:ahLst/>
              <a:cxnLst/>
              <a:rect l="l" t="t" r="r" b="b"/>
              <a:pathLst>
                <a:path w="3136126" h="496672" extrusionOk="0">
                  <a:moveTo>
                    <a:pt x="0" y="0"/>
                  </a:moveTo>
                  <a:lnTo>
                    <a:pt x="3136126" y="0"/>
                  </a:lnTo>
                  <a:lnTo>
                    <a:pt x="3136126" y="496672"/>
                  </a:lnTo>
                  <a:lnTo>
                    <a:pt x="0" y="496672"/>
                  </a:lnTo>
                  <a:lnTo>
                    <a:pt x="0" y="0"/>
                  </a:lnTo>
                </a:path>
              </a:pathLst>
            </a:custGeom>
            <a:solidFill>
              <a:srgbClr val="9AA96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15653" y="2386874"/>
              <a:ext cx="3136126" cy="496672"/>
            </a:xfrm>
            <a:custGeom>
              <a:avLst/>
              <a:gdLst/>
              <a:ahLst/>
              <a:cxnLst/>
              <a:rect l="l" t="t" r="r" b="b"/>
              <a:pathLst>
                <a:path w="3136126" h="496672" extrusionOk="0">
                  <a:moveTo>
                    <a:pt x="0" y="0"/>
                  </a:moveTo>
                  <a:lnTo>
                    <a:pt x="3136126" y="0"/>
                  </a:lnTo>
                  <a:lnTo>
                    <a:pt x="3136126" y="496672"/>
                  </a:lnTo>
                  <a:lnTo>
                    <a:pt x="0" y="49667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3975" cap="flat" cmpd="sng">
              <a:solidFill>
                <a:srgbClr val="A3B3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765095" y="2492487"/>
              <a:ext cx="2179531" cy="3925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Model Building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21"/>
            <p:cNvSpPr/>
            <p:nvPr/>
          </p:nvSpPr>
          <p:spPr>
            <a:xfrm>
              <a:off x="0" y="3519483"/>
              <a:ext cx="3136125" cy="496672"/>
            </a:xfrm>
            <a:custGeom>
              <a:avLst/>
              <a:gdLst/>
              <a:ahLst/>
              <a:cxnLst/>
              <a:rect l="l" t="t" r="r" b="b"/>
              <a:pathLst>
                <a:path w="3136125" h="496672" extrusionOk="0">
                  <a:moveTo>
                    <a:pt x="0" y="0"/>
                  </a:moveTo>
                  <a:lnTo>
                    <a:pt x="3136125" y="0"/>
                  </a:lnTo>
                  <a:lnTo>
                    <a:pt x="3136125" y="496672"/>
                  </a:lnTo>
                  <a:lnTo>
                    <a:pt x="0" y="496672"/>
                  </a:lnTo>
                  <a:lnTo>
                    <a:pt x="0" y="0"/>
                  </a:lnTo>
                </a:path>
              </a:pathLst>
            </a:custGeom>
            <a:solidFill>
              <a:srgbClr val="9AA96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21"/>
            <p:cNvSpPr/>
            <p:nvPr/>
          </p:nvSpPr>
          <p:spPr>
            <a:xfrm>
              <a:off x="0" y="3519483"/>
              <a:ext cx="3136125" cy="496672"/>
            </a:xfrm>
            <a:custGeom>
              <a:avLst/>
              <a:gdLst/>
              <a:ahLst/>
              <a:cxnLst/>
              <a:rect l="l" t="t" r="r" b="b"/>
              <a:pathLst>
                <a:path w="3136125" h="496672" extrusionOk="0">
                  <a:moveTo>
                    <a:pt x="0" y="0"/>
                  </a:moveTo>
                  <a:lnTo>
                    <a:pt x="3136125" y="0"/>
                  </a:lnTo>
                  <a:lnTo>
                    <a:pt x="3136125" y="496672"/>
                  </a:lnTo>
                  <a:lnTo>
                    <a:pt x="0" y="49667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3975" cap="flat" cmpd="sng">
              <a:solidFill>
                <a:srgbClr val="A3B3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21"/>
            <p:cNvSpPr/>
            <p:nvPr/>
          </p:nvSpPr>
          <p:spPr>
            <a:xfrm>
              <a:off x="609507" y="3625096"/>
              <a:ext cx="2548650" cy="3925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Model Evaluation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21"/>
            <p:cNvSpPr/>
            <p:nvPr/>
          </p:nvSpPr>
          <p:spPr>
            <a:xfrm>
              <a:off x="0" y="4649011"/>
              <a:ext cx="3136125" cy="496672"/>
            </a:xfrm>
            <a:custGeom>
              <a:avLst/>
              <a:gdLst/>
              <a:ahLst/>
              <a:cxnLst/>
              <a:rect l="l" t="t" r="r" b="b"/>
              <a:pathLst>
                <a:path w="3136125" h="496672" extrusionOk="0">
                  <a:moveTo>
                    <a:pt x="0" y="0"/>
                  </a:moveTo>
                  <a:lnTo>
                    <a:pt x="3136125" y="0"/>
                  </a:lnTo>
                  <a:lnTo>
                    <a:pt x="3136125" y="496672"/>
                  </a:lnTo>
                  <a:lnTo>
                    <a:pt x="0" y="496672"/>
                  </a:lnTo>
                  <a:lnTo>
                    <a:pt x="0" y="0"/>
                  </a:lnTo>
                </a:path>
              </a:pathLst>
            </a:custGeom>
            <a:solidFill>
              <a:srgbClr val="9AA96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21"/>
            <p:cNvSpPr/>
            <p:nvPr/>
          </p:nvSpPr>
          <p:spPr>
            <a:xfrm>
              <a:off x="0" y="4649011"/>
              <a:ext cx="3136125" cy="496672"/>
            </a:xfrm>
            <a:custGeom>
              <a:avLst/>
              <a:gdLst/>
              <a:ahLst/>
              <a:cxnLst/>
              <a:rect l="l" t="t" r="r" b="b"/>
              <a:pathLst>
                <a:path w="3136125" h="496672" extrusionOk="0">
                  <a:moveTo>
                    <a:pt x="0" y="0"/>
                  </a:moveTo>
                  <a:lnTo>
                    <a:pt x="3136125" y="0"/>
                  </a:lnTo>
                  <a:lnTo>
                    <a:pt x="3136125" y="496672"/>
                  </a:lnTo>
                  <a:lnTo>
                    <a:pt x="0" y="49667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3975" cap="flat" cmpd="sng">
              <a:solidFill>
                <a:srgbClr val="A3B3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21"/>
            <p:cNvSpPr/>
            <p:nvPr/>
          </p:nvSpPr>
          <p:spPr>
            <a:xfrm>
              <a:off x="889377" y="4754624"/>
              <a:ext cx="1803232" cy="3925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Deployment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21"/>
            <p:cNvSpPr/>
            <p:nvPr/>
          </p:nvSpPr>
          <p:spPr>
            <a:xfrm>
              <a:off x="1375603" y="422301"/>
              <a:ext cx="301850" cy="601614"/>
            </a:xfrm>
            <a:custGeom>
              <a:avLst/>
              <a:gdLst/>
              <a:ahLst/>
              <a:cxnLst/>
              <a:rect l="l" t="t" r="r" b="b"/>
              <a:pathLst>
                <a:path w="301850" h="601614" extrusionOk="0">
                  <a:moveTo>
                    <a:pt x="75462" y="0"/>
                  </a:moveTo>
                  <a:lnTo>
                    <a:pt x="226388" y="0"/>
                  </a:lnTo>
                  <a:lnTo>
                    <a:pt x="226388" y="450689"/>
                  </a:lnTo>
                  <a:lnTo>
                    <a:pt x="301850" y="450689"/>
                  </a:lnTo>
                  <a:lnTo>
                    <a:pt x="150925" y="601614"/>
                  </a:lnTo>
                  <a:lnTo>
                    <a:pt x="0" y="450689"/>
                  </a:lnTo>
                  <a:lnTo>
                    <a:pt x="75462" y="450689"/>
                  </a:lnTo>
                  <a:lnTo>
                    <a:pt x="75462" y="0"/>
                  </a:lnTo>
                  <a:close/>
                </a:path>
              </a:pathLst>
            </a:custGeom>
            <a:solidFill>
              <a:srgbClr val="1D3D8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21"/>
            <p:cNvSpPr/>
            <p:nvPr/>
          </p:nvSpPr>
          <p:spPr>
            <a:xfrm>
              <a:off x="1375603" y="422301"/>
              <a:ext cx="301850" cy="601614"/>
            </a:xfrm>
            <a:custGeom>
              <a:avLst/>
              <a:gdLst/>
              <a:ahLst/>
              <a:cxnLst/>
              <a:rect l="l" t="t" r="r" b="b"/>
              <a:pathLst>
                <a:path w="301850" h="601614" extrusionOk="0">
                  <a:moveTo>
                    <a:pt x="0" y="450689"/>
                  </a:moveTo>
                  <a:lnTo>
                    <a:pt x="75462" y="450689"/>
                  </a:lnTo>
                  <a:lnTo>
                    <a:pt x="75462" y="0"/>
                  </a:lnTo>
                  <a:lnTo>
                    <a:pt x="226388" y="0"/>
                  </a:lnTo>
                  <a:lnTo>
                    <a:pt x="226388" y="450689"/>
                  </a:lnTo>
                  <a:lnTo>
                    <a:pt x="301850" y="450689"/>
                  </a:lnTo>
                  <a:lnTo>
                    <a:pt x="150925" y="601614"/>
                  </a:lnTo>
                  <a:lnTo>
                    <a:pt x="0" y="450689"/>
                  </a:lnTo>
                  <a:close/>
                </a:path>
              </a:pathLst>
            </a:custGeom>
            <a:noFill/>
            <a:ln w="13975" cap="flat" cmpd="sng">
              <a:solidFill>
                <a:srgbClr val="1E439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21"/>
            <p:cNvSpPr/>
            <p:nvPr/>
          </p:nvSpPr>
          <p:spPr>
            <a:xfrm>
              <a:off x="1375603" y="1782178"/>
              <a:ext cx="290044" cy="632857"/>
            </a:xfrm>
            <a:custGeom>
              <a:avLst/>
              <a:gdLst/>
              <a:ahLst/>
              <a:cxnLst/>
              <a:rect l="l" t="t" r="r" b="b"/>
              <a:pathLst>
                <a:path w="290044" h="632857" extrusionOk="0">
                  <a:moveTo>
                    <a:pt x="72511" y="0"/>
                  </a:moveTo>
                  <a:lnTo>
                    <a:pt x="217533" y="0"/>
                  </a:lnTo>
                  <a:lnTo>
                    <a:pt x="217533" y="487835"/>
                  </a:lnTo>
                  <a:lnTo>
                    <a:pt x="290044" y="487835"/>
                  </a:lnTo>
                  <a:lnTo>
                    <a:pt x="145022" y="632857"/>
                  </a:lnTo>
                  <a:lnTo>
                    <a:pt x="0" y="487835"/>
                  </a:lnTo>
                  <a:lnTo>
                    <a:pt x="72511" y="487835"/>
                  </a:lnTo>
                  <a:lnTo>
                    <a:pt x="72511" y="0"/>
                  </a:lnTo>
                  <a:close/>
                </a:path>
              </a:pathLst>
            </a:custGeom>
            <a:solidFill>
              <a:srgbClr val="1D3D8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21"/>
            <p:cNvSpPr/>
            <p:nvPr/>
          </p:nvSpPr>
          <p:spPr>
            <a:xfrm>
              <a:off x="1375603" y="1782178"/>
              <a:ext cx="290044" cy="632857"/>
            </a:xfrm>
            <a:custGeom>
              <a:avLst/>
              <a:gdLst/>
              <a:ahLst/>
              <a:cxnLst/>
              <a:rect l="l" t="t" r="r" b="b"/>
              <a:pathLst>
                <a:path w="290044" h="632857" extrusionOk="0">
                  <a:moveTo>
                    <a:pt x="0" y="487835"/>
                  </a:moveTo>
                  <a:lnTo>
                    <a:pt x="72511" y="487835"/>
                  </a:lnTo>
                  <a:lnTo>
                    <a:pt x="72511" y="0"/>
                  </a:lnTo>
                  <a:lnTo>
                    <a:pt x="217533" y="0"/>
                  </a:lnTo>
                  <a:lnTo>
                    <a:pt x="217533" y="487835"/>
                  </a:lnTo>
                  <a:lnTo>
                    <a:pt x="290044" y="487835"/>
                  </a:lnTo>
                  <a:lnTo>
                    <a:pt x="145022" y="632857"/>
                  </a:lnTo>
                  <a:lnTo>
                    <a:pt x="0" y="487835"/>
                  </a:lnTo>
                  <a:close/>
                </a:path>
              </a:pathLst>
            </a:custGeom>
            <a:noFill/>
            <a:ln w="13975" cap="flat" cmpd="sng">
              <a:solidFill>
                <a:srgbClr val="1E439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21"/>
            <p:cNvSpPr/>
            <p:nvPr/>
          </p:nvSpPr>
          <p:spPr>
            <a:xfrm>
              <a:off x="1363796" y="4030235"/>
              <a:ext cx="301850" cy="632857"/>
            </a:xfrm>
            <a:custGeom>
              <a:avLst/>
              <a:gdLst/>
              <a:ahLst/>
              <a:cxnLst/>
              <a:rect l="l" t="t" r="r" b="b"/>
              <a:pathLst>
                <a:path w="301850" h="632857" extrusionOk="0">
                  <a:moveTo>
                    <a:pt x="75462" y="0"/>
                  </a:moveTo>
                  <a:lnTo>
                    <a:pt x="226388" y="0"/>
                  </a:lnTo>
                  <a:lnTo>
                    <a:pt x="226388" y="481931"/>
                  </a:lnTo>
                  <a:lnTo>
                    <a:pt x="301850" y="481931"/>
                  </a:lnTo>
                  <a:lnTo>
                    <a:pt x="150925" y="632857"/>
                  </a:lnTo>
                  <a:lnTo>
                    <a:pt x="0" y="481931"/>
                  </a:lnTo>
                  <a:lnTo>
                    <a:pt x="75462" y="481931"/>
                  </a:lnTo>
                  <a:lnTo>
                    <a:pt x="75462" y="0"/>
                  </a:lnTo>
                  <a:close/>
                </a:path>
              </a:pathLst>
            </a:custGeom>
            <a:solidFill>
              <a:srgbClr val="1D3D8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21"/>
            <p:cNvSpPr/>
            <p:nvPr/>
          </p:nvSpPr>
          <p:spPr>
            <a:xfrm>
              <a:off x="1363796" y="4030235"/>
              <a:ext cx="301850" cy="632857"/>
            </a:xfrm>
            <a:custGeom>
              <a:avLst/>
              <a:gdLst/>
              <a:ahLst/>
              <a:cxnLst/>
              <a:rect l="l" t="t" r="r" b="b"/>
              <a:pathLst>
                <a:path w="301850" h="632857" extrusionOk="0">
                  <a:moveTo>
                    <a:pt x="0" y="481931"/>
                  </a:moveTo>
                  <a:lnTo>
                    <a:pt x="75462" y="481931"/>
                  </a:lnTo>
                  <a:lnTo>
                    <a:pt x="75462" y="0"/>
                  </a:lnTo>
                  <a:lnTo>
                    <a:pt x="226388" y="0"/>
                  </a:lnTo>
                  <a:lnTo>
                    <a:pt x="226388" y="481931"/>
                  </a:lnTo>
                  <a:lnTo>
                    <a:pt x="301850" y="481931"/>
                  </a:lnTo>
                  <a:lnTo>
                    <a:pt x="150925" y="632857"/>
                  </a:lnTo>
                  <a:lnTo>
                    <a:pt x="0" y="481931"/>
                  </a:lnTo>
                  <a:close/>
                </a:path>
              </a:pathLst>
            </a:custGeom>
            <a:noFill/>
            <a:ln w="13975" cap="flat" cmpd="sng">
              <a:solidFill>
                <a:srgbClr val="1E439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21"/>
            <p:cNvSpPr/>
            <p:nvPr/>
          </p:nvSpPr>
          <p:spPr>
            <a:xfrm>
              <a:off x="1375603" y="2914787"/>
              <a:ext cx="301850" cy="632856"/>
            </a:xfrm>
            <a:custGeom>
              <a:avLst/>
              <a:gdLst/>
              <a:ahLst/>
              <a:cxnLst/>
              <a:rect l="l" t="t" r="r" b="b"/>
              <a:pathLst>
                <a:path w="301850" h="632856" extrusionOk="0">
                  <a:moveTo>
                    <a:pt x="75462" y="0"/>
                  </a:moveTo>
                  <a:lnTo>
                    <a:pt x="226388" y="0"/>
                  </a:lnTo>
                  <a:lnTo>
                    <a:pt x="226388" y="481931"/>
                  </a:lnTo>
                  <a:lnTo>
                    <a:pt x="301850" y="481931"/>
                  </a:lnTo>
                  <a:lnTo>
                    <a:pt x="150925" y="632856"/>
                  </a:lnTo>
                  <a:lnTo>
                    <a:pt x="0" y="481931"/>
                  </a:lnTo>
                  <a:lnTo>
                    <a:pt x="75462" y="481931"/>
                  </a:lnTo>
                  <a:lnTo>
                    <a:pt x="75462" y="0"/>
                  </a:lnTo>
                  <a:close/>
                </a:path>
              </a:pathLst>
            </a:custGeom>
            <a:solidFill>
              <a:srgbClr val="1D3D8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21"/>
            <p:cNvSpPr/>
            <p:nvPr/>
          </p:nvSpPr>
          <p:spPr>
            <a:xfrm>
              <a:off x="1375603" y="2914787"/>
              <a:ext cx="301850" cy="632856"/>
            </a:xfrm>
            <a:custGeom>
              <a:avLst/>
              <a:gdLst/>
              <a:ahLst/>
              <a:cxnLst/>
              <a:rect l="l" t="t" r="r" b="b"/>
              <a:pathLst>
                <a:path w="301850" h="632856" extrusionOk="0">
                  <a:moveTo>
                    <a:pt x="0" y="481931"/>
                  </a:moveTo>
                  <a:lnTo>
                    <a:pt x="75462" y="481931"/>
                  </a:lnTo>
                  <a:lnTo>
                    <a:pt x="75462" y="0"/>
                  </a:lnTo>
                  <a:lnTo>
                    <a:pt x="226388" y="0"/>
                  </a:lnTo>
                  <a:lnTo>
                    <a:pt x="226388" y="481931"/>
                  </a:lnTo>
                  <a:lnTo>
                    <a:pt x="301850" y="481931"/>
                  </a:lnTo>
                  <a:lnTo>
                    <a:pt x="150925" y="632856"/>
                  </a:lnTo>
                  <a:lnTo>
                    <a:pt x="0" y="481931"/>
                  </a:lnTo>
                  <a:close/>
                </a:path>
              </a:pathLst>
            </a:custGeom>
            <a:noFill/>
            <a:ln w="13975" cap="flat" cmpd="sng">
              <a:solidFill>
                <a:srgbClr val="1E439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2"/>
          <p:cNvSpPr txBox="1">
            <a:spLocks noGrp="1"/>
          </p:cNvSpPr>
          <p:nvPr>
            <p:ph type="title"/>
          </p:nvPr>
        </p:nvSpPr>
        <p:spPr>
          <a:xfrm>
            <a:off x="838200" y="210312"/>
            <a:ext cx="10515600" cy="978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0"/>
              <a:buFont typeface="Calibri"/>
              <a:buNone/>
            </a:pPr>
            <a:r>
              <a:rPr lang="en-IN" sz="2790" b="1"/>
              <a:t>Exploratory Data Analysis (EDA) and Feature Engineering</a:t>
            </a:r>
            <a:br>
              <a:rPr lang="en-IN" sz="3959" b="1"/>
            </a:br>
            <a:endParaRPr sz="3959" b="1"/>
          </a:p>
        </p:txBody>
      </p:sp>
      <p:sp>
        <p:nvSpPr>
          <p:cNvPr id="272" name="Google Shape;272;p22"/>
          <p:cNvSpPr txBox="1">
            <a:spLocks noGrp="1"/>
          </p:cNvSpPr>
          <p:nvPr>
            <p:ph type="body" idx="1"/>
          </p:nvPr>
        </p:nvSpPr>
        <p:spPr>
          <a:xfrm>
            <a:off x="838200" y="1188720"/>
            <a:ext cx="10515600" cy="49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 b="1"/>
              <a:t>Data set details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IN" sz="1800"/>
              <a:t>There are 6,98,649 rows and 14 columns in the dataset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IN" sz="1800"/>
              <a:t>there are no NA values in the given data set.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IN" sz="1800"/>
              <a:t>Data set follows the normal distribution.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IN" sz="1800"/>
              <a:t>Check all the business moments.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IN" sz="1800"/>
              <a:t>Majority of the variables are right skewed and has long tail in the end.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IN" sz="1800"/>
              <a:t>And others are left skewed and has long tail in the beginning.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IN" sz="1800"/>
              <a:t>We will remove the 1</a:t>
            </a:r>
            <a:r>
              <a:rPr lang="en-IN" sz="1800" baseline="30000"/>
              <a:t>st</a:t>
            </a:r>
            <a:r>
              <a:rPr lang="en-IN" sz="1800"/>
              <a:t> variable because it’s a serial number.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IN" sz="1800"/>
              <a:t>The target variable is Motor Speed , PM and others are input variables.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IN" sz="1800"/>
              <a:t>When we check the structure of the data set except profile_id others are numeric. Now we have to convert profile_id into factor.</a:t>
            </a:r>
            <a:endParaRPr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3"/>
          <p:cNvSpPr txBox="1">
            <a:spLocks noGrp="1"/>
          </p:cNvSpPr>
          <p:nvPr>
            <p:ph type="title"/>
          </p:nvPr>
        </p:nvSpPr>
        <p:spPr>
          <a:xfrm>
            <a:off x="838200" y="210313"/>
            <a:ext cx="105156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Calibri"/>
              <a:buNone/>
            </a:pPr>
            <a:br>
              <a:rPr lang="en-IN" sz="1620"/>
            </a:br>
            <a:endParaRPr sz="1620"/>
          </a:p>
        </p:txBody>
      </p:sp>
      <p:sp>
        <p:nvSpPr>
          <p:cNvPr id="278" name="Google Shape;278;p23"/>
          <p:cNvSpPr txBox="1">
            <a:spLocks noGrp="1"/>
          </p:cNvSpPr>
          <p:nvPr>
            <p:ph type="body" idx="1"/>
          </p:nvPr>
        </p:nvSpPr>
        <p:spPr>
          <a:xfrm>
            <a:off x="838200" y="548640"/>
            <a:ext cx="10515600" cy="5628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IN" sz="1800">
                <a:latin typeface="Calibri"/>
                <a:ea typeface="Calibri"/>
                <a:cs typeface="Calibri"/>
                <a:sym typeface="Calibri"/>
              </a:rPr>
              <a:t>After converting into factor we will get 52 levels</a:t>
            </a:r>
            <a:r>
              <a:rPr lang="en-IN" sz="1800"/>
              <a:t>.</a:t>
            </a:r>
            <a:endParaRPr sz="18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IN" sz="1800"/>
              <a:t>Now find the correlation</a:t>
            </a:r>
            <a:r>
              <a:rPr lang="en-IN" sz="1800" b="1"/>
              <a:t> </a:t>
            </a:r>
            <a:r>
              <a:rPr lang="en-IN" sz="1800"/>
              <a:t>between the variables. There is a collinearity also.</a:t>
            </a:r>
            <a:endParaRPr sz="1800"/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br>
              <a:rPr lang="en-IN" sz="1800"/>
            </a:br>
            <a:endParaRPr sz="1800"/>
          </a:p>
        </p:txBody>
      </p:sp>
      <p:pic>
        <p:nvPicPr>
          <p:cNvPr id="279" name="Google Shape;27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8750" y="1268575"/>
            <a:ext cx="6193900" cy="500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"/>
          <p:cNvSpPr txBox="1">
            <a:spLocks noGrp="1"/>
          </p:cNvSpPr>
          <p:nvPr>
            <p:ph type="title"/>
          </p:nvPr>
        </p:nvSpPr>
        <p:spPr>
          <a:xfrm>
            <a:off x="838200" y="210313"/>
            <a:ext cx="105156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Calibri"/>
              <a:buNone/>
            </a:pPr>
            <a:br>
              <a:rPr lang="en-IN" sz="1620"/>
            </a:br>
            <a:endParaRPr sz="1620"/>
          </a:p>
        </p:txBody>
      </p:sp>
      <p:sp>
        <p:nvSpPr>
          <p:cNvPr id="285" name="Google Shape;285;p24"/>
          <p:cNvSpPr txBox="1">
            <a:spLocks noGrp="1"/>
          </p:cNvSpPr>
          <p:nvPr>
            <p:ph type="body" idx="1"/>
          </p:nvPr>
        </p:nvSpPr>
        <p:spPr>
          <a:xfrm>
            <a:off x="838200" y="548640"/>
            <a:ext cx="10515600" cy="5628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000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1800"/>
              <a:t>Now make profile_id to unique so that we will come to know how many unique profile_id is there in the given dataset.</a:t>
            </a:r>
            <a:endParaRPr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-IN" sz="1800"/>
            </a:br>
            <a:endParaRPr sz="1800"/>
          </a:p>
        </p:txBody>
      </p:sp>
      <p:pic>
        <p:nvPicPr>
          <p:cNvPr id="286" name="Google Shape;28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1938" y="1541900"/>
            <a:ext cx="8353425" cy="504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5"/>
          <p:cNvSpPr txBox="1">
            <a:spLocks noGrp="1"/>
          </p:cNvSpPr>
          <p:nvPr>
            <p:ph type="title"/>
          </p:nvPr>
        </p:nvSpPr>
        <p:spPr>
          <a:xfrm>
            <a:off x="838200" y="210313"/>
            <a:ext cx="105156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Calibri"/>
              <a:buNone/>
            </a:pPr>
            <a:br>
              <a:rPr lang="en-IN" sz="1620"/>
            </a:br>
            <a:endParaRPr sz="1620"/>
          </a:p>
        </p:txBody>
      </p:sp>
      <p:sp>
        <p:nvSpPr>
          <p:cNvPr id="292" name="Google Shape;292;p25"/>
          <p:cNvSpPr txBox="1">
            <a:spLocks noGrp="1"/>
          </p:cNvSpPr>
          <p:nvPr>
            <p:ph type="body" idx="1"/>
          </p:nvPr>
        </p:nvSpPr>
        <p:spPr>
          <a:xfrm>
            <a:off x="838200" y="548640"/>
            <a:ext cx="10515600" cy="5628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IN" sz="1800"/>
              <a:t>By using density plot we will come to know about how much space each variable has occupied.</a:t>
            </a:r>
            <a:endParaRPr/>
          </a:p>
        </p:txBody>
      </p:sp>
      <p:pic>
        <p:nvPicPr>
          <p:cNvPr id="293" name="Google Shape;29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100" y="1198700"/>
            <a:ext cx="8286750" cy="53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 txBox="1">
            <a:spLocks noGrp="1"/>
          </p:cNvSpPr>
          <p:nvPr>
            <p:ph type="title"/>
          </p:nvPr>
        </p:nvSpPr>
        <p:spPr>
          <a:xfrm>
            <a:off x="838200" y="210313"/>
            <a:ext cx="105156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Calibri"/>
              <a:buNone/>
            </a:pPr>
            <a:br>
              <a:rPr lang="en-IN" sz="1620"/>
            </a:br>
            <a:endParaRPr sz="1620"/>
          </a:p>
        </p:txBody>
      </p:sp>
      <p:sp>
        <p:nvSpPr>
          <p:cNvPr id="299" name="Google Shape;299;p26"/>
          <p:cNvSpPr txBox="1">
            <a:spLocks noGrp="1"/>
          </p:cNvSpPr>
          <p:nvPr>
            <p:ph type="body" idx="1"/>
          </p:nvPr>
        </p:nvSpPr>
        <p:spPr>
          <a:xfrm>
            <a:off x="838200" y="614827"/>
            <a:ext cx="10515600" cy="56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</a:pPr>
            <a:r>
              <a:rPr lang="en-IN" sz="3600"/>
              <a:t>Histogram and bar plot will help us to find the variation in the data set.</a:t>
            </a:r>
            <a:endParaRPr sz="3600"/>
          </a:p>
          <a:p>
            <a:pPr marL="2286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</a:pPr>
            <a:r>
              <a:rPr lang="en-IN" sz="3600"/>
              <a:t>Scatterplot will help us to know whether the variables will follow positive or negative linearity.</a:t>
            </a:r>
            <a:endParaRPr sz="3600"/>
          </a:p>
          <a:p>
            <a:pPr marL="2286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</a:pPr>
            <a:r>
              <a:rPr lang="en-IN" sz="3600"/>
              <a:t>All the variables follows positive linearity.</a:t>
            </a:r>
            <a:endParaRPr sz="3600"/>
          </a:p>
          <a:p>
            <a:pPr marL="2286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</a:pPr>
            <a:r>
              <a:rPr lang="en-IN" sz="3600"/>
              <a:t>Heat plot will tell us whether there are any NA values and correlation of the variables.</a:t>
            </a:r>
            <a:endParaRPr sz="3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"/>
          <p:cNvSpPr txBox="1">
            <a:spLocks noGrp="1"/>
          </p:cNvSpPr>
          <p:nvPr>
            <p:ph type="ctrTitle"/>
          </p:nvPr>
        </p:nvSpPr>
        <p:spPr>
          <a:xfrm>
            <a:off x="1876424" y="1122363"/>
            <a:ext cx="87915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137160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</a:pPr>
            <a:r>
              <a:rPr lang="en-IN"/>
              <a:t>MODEL BUILDING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8"/>
          <p:cNvSpPr txBox="1">
            <a:spLocks noGrp="1"/>
          </p:cNvSpPr>
          <p:nvPr>
            <p:ph type="subTitle" idx="1"/>
          </p:nvPr>
        </p:nvSpPr>
        <p:spPr>
          <a:xfrm>
            <a:off x="1876424" y="758952"/>
            <a:ext cx="8791575" cy="4837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-IN" sz="2400" cap="none" dirty="0"/>
              <a:t>We have divided </a:t>
            </a:r>
            <a:r>
              <a:rPr lang="en-IN" sz="2400" dirty="0"/>
              <a:t>Training</a:t>
            </a:r>
            <a:r>
              <a:rPr lang="en-IN" sz="2400" cap="none" dirty="0"/>
              <a:t> data into</a:t>
            </a:r>
            <a:r>
              <a:rPr lang="en-IN" sz="2400" dirty="0"/>
              <a:t> train and test with ratio 70:30 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-IN" sz="2400" cap="none" dirty="0"/>
              <a:t>Based on this data we are going to perform model building. 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-IN" sz="2600" b="1" cap="none" dirty="0">
                <a:solidFill>
                  <a:schemeClr val="lt1"/>
                </a:solidFill>
              </a:rPr>
              <a:t>Multi linear regression : </a:t>
            </a:r>
            <a:endParaRPr sz="2600" b="1" cap="none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IN" b="1" cap="none" dirty="0"/>
              <a:t>Residual standard error is 0.5</a:t>
            </a:r>
            <a:endParaRPr b="1" cap="none"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IN" b="1" cap="none" dirty="0"/>
              <a:t>Multiple R square value is 0.7498 which means model is average.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IN" b="1" cap="none" dirty="0"/>
              <a:t>Accuracy is 86%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IN" b="1" cap="none" dirty="0"/>
              <a:t>RMSE value is 0.499.</a:t>
            </a:r>
            <a:endParaRPr b="1" cap="none"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IN" cap="none" dirty="0"/>
              <a:t>In this model we have high accuracy and high RMSE value.</a:t>
            </a:r>
            <a:endParaRPr cap="none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9"/>
          <p:cNvSpPr txBox="1">
            <a:spLocks noGrp="1"/>
          </p:cNvSpPr>
          <p:nvPr>
            <p:ph type="ctrTitle"/>
          </p:nvPr>
        </p:nvSpPr>
        <p:spPr>
          <a:xfrm>
            <a:off x="1958720" y="473139"/>
            <a:ext cx="8581263" cy="697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wentieth Century"/>
              <a:buNone/>
            </a:pPr>
            <a:r>
              <a:rPr lang="en-IN" sz="2400" b="1"/>
              <a:t>RIDGE REGRESSION : </a:t>
            </a:r>
            <a:endParaRPr sz="2400" b="1"/>
          </a:p>
        </p:txBody>
      </p:sp>
      <p:sp>
        <p:nvSpPr>
          <p:cNvPr id="315" name="Google Shape;315;p29"/>
          <p:cNvSpPr txBox="1">
            <a:spLocks noGrp="1"/>
          </p:cNvSpPr>
          <p:nvPr>
            <p:ph type="subTitle" idx="1"/>
          </p:nvPr>
        </p:nvSpPr>
        <p:spPr>
          <a:xfrm>
            <a:off x="1958720" y="1069848"/>
            <a:ext cx="8791575" cy="5367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IN" cap="none"/>
              <a:t>RMSE value is 0.503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IN" cap="none"/>
              <a:t>Accuracy is 86% which means model is good.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IN" cap="none"/>
              <a:t>In this model we have high accuracy and high RMSE value.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-IN" sz="2400" b="1" cap="none">
                <a:solidFill>
                  <a:schemeClr val="lt1"/>
                </a:solidFill>
              </a:rPr>
              <a:t>LASSO REGRESSION :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IN" b="1" cap="none"/>
              <a:t>RMSE value is 0.5001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IN" b="1" cap="none"/>
              <a:t>Accuracy is 86%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IN" cap="none"/>
              <a:t>In this model we have high accuracy and high RMSE value.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-IN" sz="2400" b="1" cap="none">
                <a:solidFill>
                  <a:schemeClr val="lt1"/>
                </a:solidFill>
              </a:rPr>
              <a:t>ELASTIC REGRESSION :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IN" b="1" cap="none"/>
              <a:t>RMSE </a:t>
            </a:r>
            <a:r>
              <a:rPr lang="en-IN" b="1"/>
              <a:t>value </a:t>
            </a:r>
            <a:r>
              <a:rPr lang="en-IN" b="1" cap="none"/>
              <a:t>is 0.499</a:t>
            </a:r>
            <a:endParaRPr b="1" cap="none"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IN" b="1" cap="none"/>
              <a:t>Accuracy is 86%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IN" cap="none"/>
              <a:t>In this model we have high accuracy and high RMSE value.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endParaRPr b="1" cap="none"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endParaRPr cap="non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"/>
          <p:cNvSpPr txBox="1">
            <a:spLocks noGrp="1"/>
          </p:cNvSpPr>
          <p:nvPr>
            <p:ph type="ctrTitle"/>
          </p:nvPr>
        </p:nvSpPr>
        <p:spPr>
          <a:xfrm>
            <a:off x="1876424" y="1122363"/>
            <a:ext cx="8791575" cy="697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wentieth Century"/>
              <a:buNone/>
            </a:pPr>
            <a:r>
              <a:rPr lang="en-IN" sz="2400" b="1"/>
              <a:t>DECISION TREE :</a:t>
            </a:r>
            <a:endParaRPr sz="2400" b="1"/>
          </a:p>
        </p:txBody>
      </p:sp>
      <p:sp>
        <p:nvSpPr>
          <p:cNvPr id="321" name="Google Shape;321;p30"/>
          <p:cNvSpPr txBox="1">
            <a:spLocks noGrp="1"/>
          </p:cNvSpPr>
          <p:nvPr>
            <p:ph type="subTitle" idx="1"/>
          </p:nvPr>
        </p:nvSpPr>
        <p:spPr>
          <a:xfrm>
            <a:off x="1876424" y="1700784"/>
            <a:ext cx="8791575" cy="3895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IN" cap="none"/>
              <a:t>RMSE </a:t>
            </a:r>
            <a:r>
              <a:rPr lang="en-IN" b="1"/>
              <a:t>value </a:t>
            </a:r>
            <a:r>
              <a:rPr lang="en-IN" cap="none"/>
              <a:t>is 0.6067 which is high.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IN" cap="none"/>
              <a:t>Accuracy is 79% which means model is good.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IN" cap="none"/>
              <a:t>In this model we have high accuracy and high RMSE value.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endParaRPr cap="none"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-IN" sz="2400" b="1" cap="none">
                <a:solidFill>
                  <a:schemeClr val="lt1"/>
                </a:solidFill>
              </a:rPr>
              <a:t>RANDOM FOREST :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IN" cap="none"/>
              <a:t>RMSE </a:t>
            </a:r>
            <a:r>
              <a:rPr lang="en-IN" b="1"/>
              <a:t>value </a:t>
            </a:r>
            <a:r>
              <a:rPr lang="en-IN" b="1" cap="none"/>
              <a:t>is 0.0732 which is very low.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IN" cap="none"/>
              <a:t>Accuracy </a:t>
            </a:r>
            <a:r>
              <a:rPr lang="en-IN" b="1" cap="none"/>
              <a:t>is 9</a:t>
            </a:r>
            <a:r>
              <a:rPr lang="en-IN" b="1"/>
              <a:t>8</a:t>
            </a:r>
            <a:r>
              <a:rPr lang="en-IN" b="1" cap="none"/>
              <a:t>% which means model is good.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IN" cap="none"/>
              <a:t>In this model we have high accuracy and low RMSE value.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endParaRPr b="1" cap="none"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endParaRPr cap="non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1"/>
          <p:cNvSpPr txBox="1">
            <a:spLocks noGrp="1"/>
          </p:cNvSpPr>
          <p:nvPr>
            <p:ph type="subTitle" idx="1"/>
          </p:nvPr>
        </p:nvSpPr>
        <p:spPr>
          <a:xfrm>
            <a:off x="1876424" y="1700784"/>
            <a:ext cx="8791575" cy="3895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IN" b="1" cap="none"/>
              <a:t>We have done 6 model for the given data set.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IN" b="1" cap="none"/>
              <a:t>In those model we have to select the model which has high accuracy value and low RMSE value.</a:t>
            </a:r>
            <a:endParaRPr b="1" cap="none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IN" b="1"/>
              <a:t>Almost every model’s RMSE value is more compared to Random Forest. </a:t>
            </a:r>
            <a:endParaRPr b="1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IN" b="1" cap="none"/>
              <a:t>By considering above condition we can use RANDOM FOREST, which has high accuracy value of 9</a:t>
            </a:r>
            <a:r>
              <a:rPr lang="en-IN" b="1"/>
              <a:t>8</a:t>
            </a:r>
            <a:r>
              <a:rPr lang="en-IN" b="1" cap="none"/>
              <a:t>% and low RMSE value of 0.0732 as final model.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endParaRPr b="1" cap="none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endParaRPr cap="non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2"/>
          <p:cNvSpPr txBox="1">
            <a:spLocks noGrp="1"/>
          </p:cNvSpPr>
          <p:nvPr>
            <p:ph type="body" idx="1"/>
          </p:nvPr>
        </p:nvSpPr>
        <p:spPr>
          <a:xfrm>
            <a:off x="912812" y="932750"/>
            <a:ext cx="9905999" cy="452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381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endParaRPr dirty="0"/>
          </a:p>
          <a:p>
            <a:pPr marL="228600" lvl="0" indent="-38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-IN" dirty="0"/>
              <a:t>				    </a:t>
            </a:r>
            <a:r>
              <a:rPr lang="en-IN" sz="4000" dirty="0"/>
              <a:t>Thank you </a:t>
            </a:r>
            <a:endParaRPr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rcuit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669</Words>
  <Application>Microsoft Office PowerPoint</Application>
  <PresentationFormat>Widescreen</PresentationFormat>
  <Paragraphs>84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Twentieth Century</vt:lpstr>
      <vt:lpstr>Circuit</vt:lpstr>
      <vt:lpstr>PowerPoint Presentation</vt:lpstr>
      <vt:lpstr>PowerPoint Presentation</vt:lpstr>
      <vt:lpstr>PowerPoint Presentation</vt:lpstr>
      <vt:lpstr>Exploratory Data Analysis (EDA) and Feature Engineering </vt:lpstr>
      <vt:lpstr> </vt:lpstr>
      <vt:lpstr> </vt:lpstr>
      <vt:lpstr> </vt:lpstr>
      <vt:lpstr> </vt:lpstr>
      <vt:lpstr>MODEL BUILDING</vt:lpstr>
      <vt:lpstr>PowerPoint Presentation</vt:lpstr>
      <vt:lpstr>RIDGE REGRESSION : </vt:lpstr>
      <vt:lpstr>DECISION TREE 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Sukriti Kumar</cp:lastModifiedBy>
  <cp:revision>4</cp:revision>
  <dcterms:modified xsi:type="dcterms:W3CDTF">2026-02-21T16:28:38Z</dcterms:modified>
</cp:coreProperties>
</file>